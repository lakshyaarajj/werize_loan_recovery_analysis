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1705"/>
    <a:srgbClr val="F81F08"/>
    <a:srgbClr val="F34F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Delay(in Days) By City Tier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763971576723641"/>
          <c:y val="0.14085554209569959"/>
          <c:w val="0.75596341694401614"/>
          <c:h val="0.576988629985406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Income Group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Tier-1</c:v>
                </c:pt>
                <c:pt idx="1">
                  <c:v>Tier-2</c:v>
                </c:pt>
                <c:pt idx="2">
                  <c:v>Tier-3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7</c:v>
                </c:pt>
                <c:pt idx="1">
                  <c:v>8.3529411764705888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D7-4534-BB83-4A6EE565E4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Income Group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Tier-1</c:v>
                </c:pt>
                <c:pt idx="1">
                  <c:v>Tier-2</c:v>
                </c:pt>
                <c:pt idx="2">
                  <c:v>Tier-3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7.3055555555555554</c:v>
                </c:pt>
                <c:pt idx="1">
                  <c:v>9.4019607843137258</c:v>
                </c:pt>
                <c:pt idx="2">
                  <c:v>5.1454545454545455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D7-4534-BB83-4A6EE565E4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 Income Group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Tier-1</c:v>
                </c:pt>
                <c:pt idx="1">
                  <c:v>Tier-2</c:v>
                </c:pt>
                <c:pt idx="2">
                  <c:v>Tier-3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8.0151515151515156</c:v>
                </c:pt>
                <c:pt idx="1">
                  <c:v>8.4867256637168147</c:v>
                </c:pt>
                <c:pt idx="2">
                  <c:v>5.5903614457831328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D7-4534-BB83-4A6EE565E46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480852272"/>
        <c:axId val="1480852752"/>
      </c:barChart>
      <c:catAx>
        <c:axId val="1480852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852752"/>
        <c:crosses val="autoZero"/>
        <c:auto val="1"/>
        <c:lblAlgn val="ctr"/>
        <c:lblOffset val="100"/>
        <c:noMultiLvlLbl val="0"/>
      </c:catAx>
      <c:valAx>
        <c:axId val="1480852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85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Previous Delinquency and Delay Behavior</a:t>
            </a:r>
          </a:p>
        </c:rich>
      </c:tx>
      <c:layout>
        <c:manualLayout>
          <c:xMode val="edge"/>
          <c:yMode val="edge"/>
          <c:x val="0.25405496767704566"/>
          <c:y val="3.13234013760921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858249793540196"/>
          <c:y val="0.16923556924321512"/>
          <c:w val="0.72390513310084725"/>
          <c:h val="0.640716913660901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People Delay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0.44591029023746703</c:v>
                </c:pt>
                <c:pt idx="1">
                  <c:v>0.45454545454545453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12-42D4-8CA3-A81B36F1E9F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690748304"/>
        <c:axId val="1690749264"/>
      </c:barChart>
      <c:catAx>
        <c:axId val="1690748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49264"/>
        <c:crosses val="autoZero"/>
        <c:auto val="1"/>
        <c:lblAlgn val="ctr"/>
        <c:lblOffset val="100"/>
        <c:noMultiLvlLbl val="0"/>
      </c:catAx>
      <c:valAx>
        <c:axId val="1690749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48304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% of People On-Time Payment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Tier-1 City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0.39130434782608697</c:v>
                </c:pt>
                <c:pt idx="1">
                  <c:v>0.6428571428571429</c:v>
                </c:pt>
                <c:pt idx="2">
                  <c:v>0.53125</c:v>
                </c:pt>
                <c:pt idx="3">
                  <c:v>0.64516129032258063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D6-49AA-9E60-10A45C79D6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Tier-2 City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0.63636363636363635</c:v>
                </c:pt>
                <c:pt idx="1">
                  <c:v>0.55172413793103448</c:v>
                </c:pt>
                <c:pt idx="2">
                  <c:v>0.43661971830985913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D6-49AA-9E60-10A45C79D6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Tier-3 City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Sheet1!$D$2:$D$5</c:f>
              <c:numCache>
                <c:formatCode>0.00%</c:formatCode>
                <c:ptCount val="4"/>
                <c:pt idx="0">
                  <c:v>0.5714285714285714</c:v>
                </c:pt>
                <c:pt idx="1">
                  <c:v>0.66666666666666663</c:v>
                </c:pt>
                <c:pt idx="2">
                  <c:v>0.58536585365853655</c:v>
                </c:pt>
                <c:pt idx="3">
                  <c:v>0.56818181818181823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D6-49AA-9E60-10A45C79D66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90733424"/>
        <c:axId val="1690727184"/>
      </c:barChart>
      <c:catAx>
        <c:axId val="1690733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27184"/>
        <c:crosses val="autoZero"/>
        <c:auto val="1"/>
        <c:lblAlgn val="ctr"/>
        <c:lblOffset val="100"/>
        <c:noMultiLvlLbl val="0"/>
      </c:catAx>
      <c:valAx>
        <c:axId val="16907271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33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 Delay (in Days)</a:t>
            </a:r>
          </a:p>
        </c:rich>
      </c:tx>
      <c:layout>
        <c:manualLayout>
          <c:xMode val="edge"/>
          <c:yMode val="edge"/>
          <c:x val="0.2711788464357201"/>
          <c:y val="4.95946515878098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Tier-1 City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6.0869565217391308</c:v>
                </c:pt>
                <c:pt idx="1">
                  <c:v>6.8571428571428568</c:v>
                </c:pt>
                <c:pt idx="2">
                  <c:v>9.96875</c:v>
                </c:pt>
                <c:pt idx="3">
                  <c:v>7.258064516129032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5B-4E75-84C6-4A717DB637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Tier-2 City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4.7272727272727275</c:v>
                </c:pt>
                <c:pt idx="1">
                  <c:v>10.448275862068966</c:v>
                </c:pt>
                <c:pt idx="2">
                  <c:v>8.9014084507042259</c:v>
                </c:pt>
                <c:pt idx="3">
                  <c:v>9.5142857142857142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5B-4E75-84C6-4A717DB637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Tier-3 City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Agent</c:v>
                </c:pt>
                <c:pt idx="1">
                  <c:v>AI_Call</c:v>
                </c:pt>
                <c:pt idx="2">
                  <c:v>IVR</c:v>
                </c:pt>
                <c:pt idx="3">
                  <c:v>WhatsApp</c:v>
                </c:pt>
              </c:strCache>
            </c:strRef>
          </c:cat>
          <c:val>
            <c:numRef>
              <c:f>Sheet1!$D$2:$D$5</c:f>
              <c:numCache>
                <c:formatCode>0.00</c:formatCode>
                <c:ptCount val="4"/>
                <c:pt idx="0">
                  <c:v>7.9047619047619051</c:v>
                </c:pt>
                <c:pt idx="1">
                  <c:v>5.583333333333333</c:v>
                </c:pt>
                <c:pt idx="2">
                  <c:v>2.1219512195121952</c:v>
                </c:pt>
                <c:pt idx="3">
                  <c:v>6.2272727272727275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5B-4E75-84C6-4A717DB637E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90753104"/>
        <c:axId val="1690753584"/>
      </c:barChart>
      <c:catAx>
        <c:axId val="1690753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53584"/>
        <c:crosses val="autoZero"/>
        <c:auto val="1"/>
        <c:lblAlgn val="ctr"/>
        <c:lblOffset val="100"/>
        <c:noMultiLvlLbl val="0"/>
      </c:catAx>
      <c:valAx>
        <c:axId val="16907535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753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Delay</a:t>
            </a:r>
            <a:r>
              <a:rPr lang="en-US" baseline="0" dirty="0"/>
              <a:t> City wise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851543155341805"/>
          <c:y val="0.31222437602769942"/>
          <c:w val="0.66601869310439143"/>
          <c:h val="0.384623275066221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Delay(in Days)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Tier-1 City</c:v>
                </c:pt>
                <c:pt idx="1">
                  <c:v>Tier-2 City</c:v>
                </c:pt>
                <c:pt idx="2">
                  <c:v>Tier-3 City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7.6842105263157894</c:v>
                </c:pt>
                <c:pt idx="1">
                  <c:v>8.8793103448275854</c:v>
                </c:pt>
                <c:pt idx="2">
                  <c:v>5.162337662337662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86-4FDB-BD49-3B0BAE954F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859295216"/>
        <c:axId val="1859312496"/>
      </c:barChart>
      <c:catAx>
        <c:axId val="1859295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312496"/>
        <c:crosses val="autoZero"/>
        <c:auto val="1"/>
        <c:lblAlgn val="ctr"/>
        <c:lblOffset val="100"/>
        <c:noMultiLvlLbl val="0"/>
      </c:catAx>
      <c:valAx>
        <c:axId val="18593124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295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b="1" dirty="0"/>
              <a:t>Delay</a:t>
            </a:r>
            <a:r>
              <a:rPr lang="en-US" b="1" baseline="0" dirty="0"/>
              <a:t> across Income Group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Delay(in Days)</c:v>
                </c:pt>
              </c:strCache>
            </c:strRef>
          </c:tx>
          <c:spPr>
            <a:gradFill>
              <a:gsLst>
                <a:gs pos="0">
                  <a:schemeClr val="accent4"/>
                </a:gs>
                <a:gs pos="100000">
                  <a:schemeClr val="accent4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High Income Group</c:v>
                </c:pt>
                <c:pt idx="1">
                  <c:v>Medium Income Group</c:v>
                </c:pt>
                <c:pt idx="2">
                  <c:v>Low Income Group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6.0888888888888886</c:v>
                </c:pt>
                <c:pt idx="1">
                  <c:v>7.7979274611398965</c:v>
                </c:pt>
                <c:pt idx="2">
                  <c:v>7.4503816793893129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99-4680-A5FF-AF9D1D8E7BF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859310096"/>
        <c:axId val="1859309136"/>
      </c:barChart>
      <c:catAx>
        <c:axId val="185931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309136"/>
        <c:crosses val="autoZero"/>
        <c:auto val="1"/>
        <c:lblAlgn val="ctr"/>
        <c:lblOffset val="100"/>
        <c:noMultiLvlLbl val="0"/>
      </c:catAx>
      <c:valAx>
        <c:axId val="1859309136"/>
        <c:scaling>
          <c:orientation val="minMax"/>
        </c:scaling>
        <c:delete val="1"/>
        <c:axPos val="l"/>
        <c:numFmt formatCode="0.00" sourceLinked="1"/>
        <c:majorTickMark val="none"/>
        <c:minorTickMark val="none"/>
        <c:tickLblPos val="nextTo"/>
        <c:crossAx val="185931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50" dirty="0"/>
              <a:t>Avg Delay</a:t>
            </a:r>
            <a:r>
              <a:rPr lang="en-US" sz="1850" baseline="0" dirty="0"/>
              <a:t> across Loan Amount (%</a:t>
            </a:r>
            <a:r>
              <a:rPr lang="en-US" sz="1850" baseline="0" dirty="0" err="1"/>
              <a:t>ile</a:t>
            </a:r>
            <a:r>
              <a:rPr lang="en-US" sz="1850" baseline="0" dirty="0"/>
              <a:t> - Based)</a:t>
            </a:r>
            <a:endParaRPr lang="en-US" sz="1850" dirty="0"/>
          </a:p>
        </c:rich>
      </c:tx>
      <c:layout>
        <c:manualLayout>
          <c:xMode val="edge"/>
          <c:yMode val="edge"/>
          <c:x val="9.3995694358429915E-2"/>
          <c:y val="4.08215415596239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Delay(in Days)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 (&lt;25%ile) </c:v>
                </c:pt>
                <c:pt idx="1">
                  <c:v>Mid (25-50%ile)</c:v>
                </c:pt>
                <c:pt idx="2">
                  <c:v>High (50-75%ile)</c:v>
                </c:pt>
                <c:pt idx="3">
                  <c:v>Very High (&gt;75%ile)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9.56</c:v>
                </c:pt>
                <c:pt idx="1">
                  <c:v>7.64</c:v>
                </c:pt>
                <c:pt idx="2">
                  <c:v>5.8959999999999999</c:v>
                </c:pt>
                <c:pt idx="3">
                  <c:v>6.7519999999999998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C-4334-8413-746C774361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859208336"/>
        <c:axId val="1859211216"/>
      </c:barChart>
      <c:catAx>
        <c:axId val="18592083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211216"/>
        <c:crosses val="autoZero"/>
        <c:auto val="1"/>
        <c:lblAlgn val="ctr"/>
        <c:lblOffset val="100"/>
        <c:noMultiLvlLbl val="0"/>
      </c:catAx>
      <c:valAx>
        <c:axId val="1859211216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20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6D285-B9F5-4F82-BD2F-11BFF810C5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792C6-ACF6-4664-B904-75BBE9207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8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792C6-ACF6-4664-B904-75BBE92076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7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792C6-ACF6-4664-B904-75BBE92076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4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7242-E8C1-45A3-AD69-0DFB91415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2E5C1-D750-A05E-7721-B88E87ACA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82264-2162-544E-E291-C6E02987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01330-3D2E-A865-25D8-7F23E15F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74629-45EC-C541-E4DF-C77AEC46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3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E02C-7E05-7804-34BA-D221EC7A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B56C-8E4D-6823-D46F-561B108CA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4BAB-B6D1-D6FB-12CD-DCB3DFD0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71429-E364-D0F2-4C55-86A1C505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9A954-A291-C5B4-1132-AF1FEAF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1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9227-5223-7561-72C5-EE8538CC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40C99-4060-7791-2F02-80784093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F7A83-51E9-F6D3-9CD8-1AD61E8B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888A-F72E-241E-B3C8-9FC604EED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6A69-78F0-8951-E5EE-149CD4CA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5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C3E1-D0F3-231B-3E1F-1DD3B548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280B2-805B-C20F-7879-6D18AA56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7AE22-270A-70E6-4ECF-D19320F18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458E3-EDCD-9EE4-C2E5-FBBA6AF08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A66D4-F84B-4414-2C2D-81F0FADF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66391-61C4-DC42-0FC3-A8B5424D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B4A6-DBAE-59EA-A9FD-2300FC3A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7E08D-8B61-80D7-8EC0-24F34DF12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1C0FA-E623-4654-6A1A-6CEEC9701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5151C-2B72-66CD-D669-3F122E872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14732-8325-4B55-DE5A-EE23EF15B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92CA5-395F-B008-164E-D1C56BB9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CE91DA-156A-6392-EED3-88FF25D4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BB22D5-6B59-2B43-55EA-E2FAEEEB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8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FA20-BF28-5DB9-6D0D-F5414F74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80F36-5CA7-44D4-D752-0ABEBCDA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3D73F-D5C1-B670-16F9-DCC1D2ED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8B863-29A1-C712-5CFE-0D97E009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6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0DC50-1AEF-BE3F-8219-0DADD51C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268DE-1083-715F-0379-F48A7D22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60C6-C724-CC21-EFE7-D0C7E11B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5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275D-974F-4ACB-CB68-3750D81E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3F1CF-B5D9-25CA-B6C7-06AA8A5BA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2CBC1-C869-1862-012B-71613A19D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F1106-1AA1-C8EF-4558-F373EFE2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82B1E-3D6F-578E-A12A-22D58FCC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AC7EA-052F-E819-E765-ACE7796A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3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D343-591D-478D-17CB-C3833403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1B0CB-0F03-DA64-2C1E-8C87C7592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6C14F-874F-3E0E-0A2B-0E5FBAFED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81B22-A13A-B38F-C6E3-F3D62EBC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817DF-36C5-9CEC-7726-795D238A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E1CF9-8C2E-F032-6197-B2E61515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D4FA-ABD2-1444-8006-D4E8EB2B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55E3B-C35D-CB68-B372-51F34019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D9EFF-782E-46D5-47AA-5F5CA3C3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263F5-5D00-8579-5B94-7893FC20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667BF-7B59-7678-D30A-55670623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8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70A15-E9EE-385E-6144-D234F201D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FF6CE-03A3-6773-FFEF-88ED5CD42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45B15-A000-C362-03C7-96715415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06E37-D713-3973-706A-6C6FE1A0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D2A3E-B334-7EB4-D0E4-1EC347C4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7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38AE2-B1C4-8DD2-3976-4BBFEA6F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73687-EBED-3DCC-1797-C38029F2D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DC9B5-FEE9-C032-8EB1-3367E4CEF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6AF79-3B04-4A9A-9FF7-D309F9DD750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BBF15-C616-FA20-5821-D73AEA733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17589-1C68-2B63-2C6C-35C0E7FC2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AD730-0E00-49C8-A419-2E30D9F9E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2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EBA080-475F-FCDA-E105-379ACFC5A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 err="1"/>
              <a:t>WeRize</a:t>
            </a:r>
            <a:r>
              <a:rPr lang="en-US" sz="4800" b="1" dirty="0"/>
              <a:t> Product Analyst Assignment</a:t>
            </a:r>
            <a:br>
              <a:rPr lang="en-US" sz="4800" dirty="0"/>
            </a:br>
            <a:br>
              <a:rPr lang="en-US" sz="4800" dirty="0"/>
            </a:br>
            <a:r>
              <a:rPr lang="en-US" sz="2000" dirty="0"/>
              <a:t>Analyzing repayment and collection data, identifying key drivers of delay or default, and recommending actions to improve repayment efficiency.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B3F23E4-190B-925A-CC21-630CED78D6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</a:t>
            </a:r>
            <a:r>
              <a:rPr lang="en-US" b="1" dirty="0"/>
              <a:t>Lakshya Raj</a:t>
            </a:r>
            <a:br>
              <a:rPr lang="en-US" dirty="0"/>
            </a:br>
            <a:r>
              <a:rPr lang="en-US" dirty="0"/>
              <a:t> Product &amp; Data Analytics Enthusiast</a:t>
            </a:r>
          </a:p>
        </p:txBody>
      </p:sp>
    </p:spTree>
    <p:extLst>
      <p:ext uri="{BB962C8B-B14F-4D97-AF65-F5344CB8AC3E}">
        <p14:creationId xmlns:p14="http://schemas.microsoft.com/office/powerpoint/2010/main" val="66490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109AF7-7119-D896-8553-7CFE2C73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Objective &amp; Dataset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9B55DB-26A7-3E23-5BC5-92D772410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487186" cy="4744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Identify key drivers of repayment delay</a:t>
            </a:r>
          </a:p>
          <a:p>
            <a:r>
              <a:rPr lang="en-US" dirty="0"/>
              <a:t>Evaluate channel performance</a:t>
            </a:r>
          </a:p>
          <a:p>
            <a:r>
              <a:rPr lang="en-US" dirty="0"/>
              <a:t>Segment customers by risk &amp; propose actions</a:t>
            </a:r>
          </a:p>
          <a:p>
            <a:pPr marL="0" indent="0">
              <a:buNone/>
            </a:pPr>
            <a:r>
              <a:rPr lang="en-US" b="1" dirty="0"/>
              <a:t>Dataset Summary:</a:t>
            </a:r>
            <a:endParaRPr lang="en-US" dirty="0"/>
          </a:p>
          <a:p>
            <a:r>
              <a:rPr lang="en-US" dirty="0"/>
              <a:t>500 customers</a:t>
            </a:r>
          </a:p>
          <a:p>
            <a:r>
              <a:rPr lang="en-US" dirty="0"/>
              <a:t>Columns: </a:t>
            </a:r>
            <a:r>
              <a:rPr lang="en-US" dirty="0" err="1"/>
              <a:t>city_tier</a:t>
            </a:r>
            <a:r>
              <a:rPr lang="en-US" dirty="0"/>
              <a:t>, </a:t>
            </a:r>
            <a:r>
              <a:rPr lang="en-US" dirty="0" err="1"/>
              <a:t>income_bracket</a:t>
            </a:r>
            <a:r>
              <a:rPr lang="en-US" dirty="0"/>
              <a:t>, </a:t>
            </a:r>
            <a:r>
              <a:rPr lang="en-US" dirty="0" err="1"/>
              <a:t>loan_amount</a:t>
            </a:r>
            <a:r>
              <a:rPr lang="en-US" dirty="0"/>
              <a:t>, </a:t>
            </a:r>
            <a:r>
              <a:rPr lang="en-US" dirty="0" err="1"/>
              <a:t>emi_amount</a:t>
            </a:r>
            <a:r>
              <a:rPr lang="en-US" dirty="0"/>
              <a:t>, </a:t>
            </a:r>
            <a:r>
              <a:rPr lang="en-US" dirty="0" err="1"/>
              <a:t>days_past_due</a:t>
            </a:r>
            <a:r>
              <a:rPr lang="en-US" dirty="0"/>
              <a:t>, </a:t>
            </a:r>
            <a:r>
              <a:rPr lang="en-US" dirty="0" err="1"/>
              <a:t>channel_used</a:t>
            </a:r>
            <a:r>
              <a:rPr lang="en-US" dirty="0"/>
              <a:t>, etc.</a:t>
            </a:r>
          </a:p>
          <a:p>
            <a:r>
              <a:rPr lang="en-US" dirty="0"/>
              <a:t>Tools used: Excel</a:t>
            </a: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47286BD-FC90-C233-9773-EC0EFAC196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4455103"/>
              </p:ext>
            </p:extLst>
          </p:nvPr>
        </p:nvGraphicFramePr>
        <p:xfrm>
          <a:off x="6966408" y="2073897"/>
          <a:ext cx="4703976" cy="3648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8628">
                  <a:extLst>
                    <a:ext uri="{9D8B030D-6E8A-4147-A177-3AD203B41FA5}">
                      <a16:colId xmlns:a16="http://schemas.microsoft.com/office/drawing/2014/main" val="1272905854"/>
                    </a:ext>
                  </a:extLst>
                </a:gridCol>
                <a:gridCol w="1925348">
                  <a:extLst>
                    <a:ext uri="{9D8B030D-6E8A-4147-A177-3AD203B41FA5}">
                      <a16:colId xmlns:a16="http://schemas.microsoft.com/office/drawing/2014/main" val="2561358716"/>
                    </a:ext>
                  </a:extLst>
                </a:gridCol>
              </a:tblGrid>
              <a:tr h="729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Total Customers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500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77109480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Avg Loan Amount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/>
                        <a:t>₹ </a:t>
                      </a:r>
                      <a:r>
                        <a:rPr lang="en-US" sz="1600" b="1" u="none" strike="noStrike" dirty="0">
                          <a:effectLst/>
                        </a:rPr>
                        <a:t>60521.12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1968618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Avg EMI Amount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/>
                        <a:t>₹ </a:t>
                      </a:r>
                      <a:r>
                        <a:rPr lang="en-US" sz="1600" b="1" u="none" strike="noStrike" dirty="0">
                          <a:effectLst/>
                        </a:rPr>
                        <a:t>4955.2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9544949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Avg Days Past Due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7.46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506924"/>
                  </a:ext>
                </a:extLst>
              </a:tr>
              <a:tr h="729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% Delayed Customers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44.80%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26548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27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EA5B-8376-2743-447D-6BAD31B0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Customer Insights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7F36443-CABA-F9B2-3C1E-A172337C583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4810700"/>
              </p:ext>
            </p:extLst>
          </p:nvPr>
        </p:nvGraphicFramePr>
        <p:xfrm>
          <a:off x="333374" y="1006475"/>
          <a:ext cx="5762625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E72B9D1A-26CF-5BDF-37B8-83A64934E7E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63824183"/>
              </p:ext>
            </p:extLst>
          </p:nvPr>
        </p:nvGraphicFramePr>
        <p:xfrm>
          <a:off x="333375" y="3876675"/>
          <a:ext cx="5762623" cy="2432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7E29AC32-2A15-827B-F52E-A085B6BD8C90}"/>
              </a:ext>
            </a:extLst>
          </p:cNvPr>
          <p:cNvSpPr txBox="1"/>
          <p:nvPr/>
        </p:nvSpPr>
        <p:spPr>
          <a:xfrm>
            <a:off x="6600825" y="1325565"/>
            <a:ext cx="46462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Tier 1 &amp; 2 customers show higher repayment delays may likely due to larger loans or relaxed payment behavior, over all income groups.</a:t>
            </a:r>
          </a:p>
          <a:p>
            <a:br>
              <a:rPr lang="en-US" dirty="0"/>
            </a:br>
            <a:r>
              <a:rPr lang="en-US" dirty="0"/>
              <a:t>Medium-income users show maximum delays, this delay pattern is behavioral, not financial.</a:t>
            </a:r>
          </a:p>
          <a:p>
            <a:endParaRPr lang="en-US" dirty="0"/>
          </a:p>
          <a:p>
            <a:r>
              <a:rPr lang="en-US" dirty="0"/>
              <a:t>Delay in Tier-2 cities is highest.</a:t>
            </a:r>
          </a:p>
          <a:p>
            <a:endParaRPr lang="en-US" dirty="0"/>
          </a:p>
          <a:p>
            <a:r>
              <a:rPr lang="en-US" dirty="0"/>
              <a:t>Nearly half of the previous delinquent users shows same behavior.</a:t>
            </a:r>
          </a:p>
          <a:p>
            <a:endParaRPr lang="en-US" dirty="0"/>
          </a:p>
          <a:p>
            <a:r>
              <a:rPr lang="en-US" dirty="0"/>
              <a:t>New users or users with  no previous delinquency record has also shows same behavior like previous delinquent users</a:t>
            </a:r>
          </a:p>
        </p:txBody>
      </p:sp>
    </p:spTree>
    <p:extLst>
      <p:ext uri="{BB962C8B-B14F-4D97-AF65-F5344CB8AC3E}">
        <p14:creationId xmlns:p14="http://schemas.microsoft.com/office/powerpoint/2010/main" val="65083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CB5D-B032-EF0D-8D7A-008E14E5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012" y="212725"/>
            <a:ext cx="10315575" cy="701675"/>
          </a:xfrm>
        </p:spPr>
        <p:txBody>
          <a:bodyPr/>
          <a:lstStyle/>
          <a:p>
            <a:pPr algn="ctr"/>
            <a:r>
              <a:rPr lang="en-US" b="1" dirty="0"/>
              <a:t>Channel Performance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B7C7A7D-1429-3C13-4FD6-5FD06035DA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42591841"/>
              </p:ext>
            </p:extLst>
          </p:nvPr>
        </p:nvGraphicFramePr>
        <p:xfrm>
          <a:off x="523875" y="914400"/>
          <a:ext cx="527685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122E4A4-6677-97AD-B15F-6BFC1F789A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9752881"/>
              </p:ext>
            </p:extLst>
          </p:nvPr>
        </p:nvGraphicFramePr>
        <p:xfrm>
          <a:off x="6357936" y="914400"/>
          <a:ext cx="5157788" cy="3667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FFF66DA-B7AB-019D-7BEE-FAD835D6A674}"/>
              </a:ext>
            </a:extLst>
          </p:cNvPr>
          <p:cNvSpPr txBox="1"/>
          <p:nvPr/>
        </p:nvSpPr>
        <p:spPr>
          <a:xfrm>
            <a:off x="8328343" y="4946095"/>
            <a:ext cx="284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Combination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B19F0C-903C-2CFF-38B3-247D75E32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2728"/>
              </p:ext>
            </p:extLst>
          </p:nvPr>
        </p:nvGraphicFramePr>
        <p:xfrm>
          <a:off x="399098" y="4765040"/>
          <a:ext cx="6252845" cy="1845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85">
                  <a:extLst>
                    <a:ext uri="{9D8B030D-6E8A-4147-A177-3AD203B41FA5}">
                      <a16:colId xmlns:a16="http://schemas.microsoft.com/office/drawing/2014/main" val="3965831439"/>
                    </a:ext>
                  </a:extLst>
                </a:gridCol>
                <a:gridCol w="1338453">
                  <a:extLst>
                    <a:ext uri="{9D8B030D-6E8A-4147-A177-3AD203B41FA5}">
                      <a16:colId xmlns:a16="http://schemas.microsoft.com/office/drawing/2014/main" val="3890929800"/>
                    </a:ext>
                  </a:extLst>
                </a:gridCol>
                <a:gridCol w="1250569">
                  <a:extLst>
                    <a:ext uri="{9D8B030D-6E8A-4147-A177-3AD203B41FA5}">
                      <a16:colId xmlns:a16="http://schemas.microsoft.com/office/drawing/2014/main" val="3799415634"/>
                    </a:ext>
                  </a:extLst>
                </a:gridCol>
                <a:gridCol w="1250569">
                  <a:extLst>
                    <a:ext uri="{9D8B030D-6E8A-4147-A177-3AD203B41FA5}">
                      <a16:colId xmlns:a16="http://schemas.microsoft.com/office/drawing/2014/main" val="3797472833"/>
                    </a:ext>
                  </a:extLst>
                </a:gridCol>
                <a:gridCol w="1250569">
                  <a:extLst>
                    <a:ext uri="{9D8B030D-6E8A-4147-A177-3AD203B41FA5}">
                      <a16:colId xmlns:a16="http://schemas.microsoft.com/office/drawing/2014/main" val="39935597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WHATSAPP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IVR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AI_CALL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46122"/>
                  </a:ext>
                </a:extLst>
              </a:tr>
              <a:tr h="493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Tier-1 City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804083"/>
                  </a:ext>
                </a:extLst>
              </a:tr>
              <a:tr h="493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Tier-2 City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804727"/>
                  </a:ext>
                </a:extLst>
              </a:tr>
              <a:tr h="4933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Tier-3 City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514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B848CD2-6707-4AD4-A727-3E1029816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572446"/>
              </p:ext>
            </p:extLst>
          </p:nvPr>
        </p:nvGraphicFramePr>
        <p:xfrm>
          <a:off x="7859870" y="4946095"/>
          <a:ext cx="440850" cy="1483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850">
                  <a:extLst>
                    <a:ext uri="{9D8B030D-6E8A-4147-A177-3AD203B41FA5}">
                      <a16:colId xmlns:a16="http://schemas.microsoft.com/office/drawing/2014/main" val="885659585"/>
                    </a:ext>
                  </a:extLst>
                </a:gridCol>
              </a:tblGrid>
              <a:tr h="4945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400227"/>
                  </a:ext>
                </a:extLst>
              </a:tr>
              <a:tr h="4945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871780"/>
                  </a:ext>
                </a:extLst>
              </a:tr>
              <a:tr h="4945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06772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47F7BF2-771F-1F8E-0A8A-4A7AC34F611F}"/>
              </a:ext>
            </a:extLst>
          </p:cNvPr>
          <p:cNvSpPr txBox="1"/>
          <p:nvPr/>
        </p:nvSpPr>
        <p:spPr>
          <a:xfrm>
            <a:off x="8328343" y="5984798"/>
            <a:ext cx="284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Worst Combination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83212-314E-C192-7CA5-DEDDE48CD865}"/>
              </a:ext>
            </a:extLst>
          </p:cNvPr>
          <p:cNvSpPr txBox="1"/>
          <p:nvPr/>
        </p:nvSpPr>
        <p:spPr>
          <a:xfrm>
            <a:off x="8328343" y="5465446"/>
            <a:ext cx="284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Combination</a:t>
            </a:r>
          </a:p>
        </p:txBody>
      </p:sp>
    </p:spTree>
    <p:extLst>
      <p:ext uri="{BB962C8B-B14F-4D97-AF65-F5344CB8AC3E}">
        <p14:creationId xmlns:p14="http://schemas.microsoft.com/office/powerpoint/2010/main" val="343688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5306-2DDF-6967-6602-F478CEB0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76590"/>
            <a:ext cx="10515600" cy="749300"/>
          </a:xfrm>
        </p:spPr>
        <p:txBody>
          <a:bodyPr/>
          <a:lstStyle/>
          <a:p>
            <a:pPr algn="ctr"/>
            <a:r>
              <a:rPr lang="en-US" b="1" dirty="0"/>
              <a:t>Delay Drivers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9FF8072-B337-EC1C-363E-A5CFB4023A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3100948"/>
              </p:ext>
            </p:extLst>
          </p:nvPr>
        </p:nvGraphicFramePr>
        <p:xfrm>
          <a:off x="239394" y="2979997"/>
          <a:ext cx="4068446" cy="2485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913DE8A-3785-58F0-0A0D-A97B11F70AB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2136831"/>
              </p:ext>
            </p:extLst>
          </p:nvPr>
        </p:nvGraphicFramePr>
        <p:xfrm>
          <a:off x="438150" y="1114426"/>
          <a:ext cx="6019800" cy="171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239">
                  <a:extLst>
                    <a:ext uri="{9D8B030D-6E8A-4147-A177-3AD203B41FA5}">
                      <a16:colId xmlns:a16="http://schemas.microsoft.com/office/drawing/2014/main" val="2420269008"/>
                    </a:ext>
                  </a:extLst>
                </a:gridCol>
                <a:gridCol w="1397661">
                  <a:extLst>
                    <a:ext uri="{9D8B030D-6E8A-4147-A177-3AD203B41FA5}">
                      <a16:colId xmlns:a16="http://schemas.microsoft.com/office/drawing/2014/main" val="3494026099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3091774755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965678977"/>
                    </a:ext>
                  </a:extLst>
                </a:gridCol>
              </a:tblGrid>
              <a:tr h="411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 Category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Loan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EMI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Delay(in Days)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0107199"/>
                  </a:ext>
                </a:extLst>
              </a:tr>
              <a:tr h="409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(Delay &gt; 14 days)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62309.27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5118.52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29.58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2137651"/>
                  </a:ext>
                </a:extLst>
              </a:tr>
              <a:tr h="409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(Delay = 1 – 14 days)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57796.00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4834.48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3231374"/>
                  </a:ext>
                </a:extLst>
              </a:tr>
              <a:tr h="409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 Delay)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60966.74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4942.03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44550351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49078F6-0501-5342-6C28-C60F995FE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0992112"/>
              </p:ext>
            </p:extLst>
          </p:nvPr>
        </p:nvGraphicFramePr>
        <p:xfrm>
          <a:off x="3743325" y="2969837"/>
          <a:ext cx="3393440" cy="3726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1AC5492-5F64-22E5-0533-A5B96FACA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645882"/>
              </p:ext>
            </p:extLst>
          </p:nvPr>
        </p:nvGraphicFramePr>
        <p:xfrm>
          <a:off x="6457950" y="1039556"/>
          <a:ext cx="5734050" cy="2485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7F00122-A88D-A552-53A4-1303B779F9D7}"/>
              </a:ext>
            </a:extLst>
          </p:cNvPr>
          <p:cNvSpPr txBox="1"/>
          <p:nvPr/>
        </p:nvSpPr>
        <p:spPr>
          <a:xfrm>
            <a:off x="7650480" y="3429000"/>
            <a:ext cx="43021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with high EMIs have more delay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income and Mid income groups living in Tier-1 and Tier-2 cities have high chances of delay to their finances or irregular expenses.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Loan amount with Higher EMIs have high chances of delay</a:t>
            </a:r>
          </a:p>
        </p:txBody>
      </p:sp>
    </p:spTree>
    <p:extLst>
      <p:ext uri="{BB962C8B-B14F-4D97-AF65-F5344CB8AC3E}">
        <p14:creationId xmlns:p14="http://schemas.microsoft.com/office/powerpoint/2010/main" val="7933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C16E0-A369-0D6B-BFF6-0025228F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595" y="123407"/>
            <a:ext cx="5303520" cy="864235"/>
          </a:xfrm>
        </p:spPr>
        <p:txBody>
          <a:bodyPr/>
          <a:lstStyle/>
          <a:p>
            <a:r>
              <a:rPr lang="en-US" b="1" dirty="0"/>
              <a:t>Recommendations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D820BD-9B09-166C-05CD-2F79E3955E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10252027"/>
              </p:ext>
            </p:extLst>
          </p:nvPr>
        </p:nvGraphicFramePr>
        <p:xfrm>
          <a:off x="408971" y="958857"/>
          <a:ext cx="5933472" cy="2898768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667225">
                  <a:extLst>
                    <a:ext uri="{9D8B030D-6E8A-4147-A177-3AD203B41FA5}">
                      <a16:colId xmlns:a16="http://schemas.microsoft.com/office/drawing/2014/main" val="1160645968"/>
                    </a:ext>
                  </a:extLst>
                </a:gridCol>
                <a:gridCol w="3266247">
                  <a:extLst>
                    <a:ext uri="{9D8B030D-6E8A-4147-A177-3AD203B41FA5}">
                      <a16:colId xmlns:a16="http://schemas.microsoft.com/office/drawing/2014/main" val="3206310662"/>
                    </a:ext>
                  </a:extLst>
                </a:gridCol>
              </a:tblGrid>
              <a:tr h="3270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252336"/>
                  </a:ext>
                </a:extLst>
              </a:tr>
              <a:tr h="7849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Tier 1 &amp; 2 users have higher repayment delays than Tier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Urban customers have higher exposure and relaxed repayment habits, more delays (avg 8 days).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262245"/>
                  </a:ext>
                </a:extLst>
              </a:tr>
              <a:tr h="7287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Medium income users show 50% delay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Not affordability, but behavioral delays need nudges like reminders or incentives.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789198"/>
                  </a:ext>
                </a:extLst>
              </a:tr>
              <a:tr h="10579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AI Call performs best, and IVR underperform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AI Call has more than 60% on-time, but delays are increases in Tier 2 cities IVR and WhatsApp need better personalization &amp; follow-up timing.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9388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B44373-F752-C364-B869-09CE7F016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375453"/>
              </p:ext>
            </p:extLst>
          </p:nvPr>
        </p:nvGraphicFramePr>
        <p:xfrm>
          <a:off x="6619875" y="987642"/>
          <a:ext cx="5303521" cy="256518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83457">
                  <a:extLst>
                    <a:ext uri="{9D8B030D-6E8A-4147-A177-3AD203B41FA5}">
                      <a16:colId xmlns:a16="http://schemas.microsoft.com/office/drawing/2014/main" val="4120710333"/>
                    </a:ext>
                  </a:extLst>
                </a:gridCol>
                <a:gridCol w="2024958">
                  <a:extLst>
                    <a:ext uri="{9D8B030D-6E8A-4147-A177-3AD203B41FA5}">
                      <a16:colId xmlns:a16="http://schemas.microsoft.com/office/drawing/2014/main" val="3989271191"/>
                    </a:ext>
                  </a:extLst>
                </a:gridCol>
                <a:gridCol w="1095106">
                  <a:extLst>
                    <a:ext uri="{9D8B030D-6E8A-4147-A177-3AD203B41FA5}">
                      <a16:colId xmlns:a16="http://schemas.microsoft.com/office/drawing/2014/main" val="4149119799"/>
                    </a:ext>
                  </a:extLst>
                </a:gridCol>
              </a:tblGrid>
              <a:tr h="411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Traits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Default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48055"/>
                  </a:ext>
                </a:extLst>
              </a:tr>
              <a:tr h="71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nn-NO" sz="1400" b="1" dirty="0"/>
                        <a:t>Tier 1 &amp; 2  + Medium Income groups</a:t>
                      </a:r>
                      <a:endParaRPr lang="nn-NO" sz="1400" dirty="0"/>
                    </a:p>
                  </a:txBody>
                  <a:tcPr anchor="ctr">
                    <a:solidFill>
                      <a:srgbClr val="FF0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Higher loans + relaxed payment habits</a:t>
                      </a:r>
                    </a:p>
                  </a:txBody>
                  <a:tcPr anchor="ctr">
                    <a:solidFill>
                      <a:srgbClr val="FF0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</a:t>
                      </a:r>
                    </a:p>
                  </a:txBody>
                  <a:tcPr anchor="ctr"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508394"/>
                  </a:ext>
                </a:extLst>
              </a:tr>
              <a:tr h="71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Previous Delinquent Users</a:t>
                      </a:r>
                      <a:endParaRPr lang="en-US" sz="1400" dirty="0"/>
                    </a:p>
                  </a:txBody>
                  <a:tcPr anchor="ctr"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45% delayed again</a:t>
                      </a:r>
                    </a:p>
                  </a:txBody>
                  <a:tcPr anchor="ctr"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Medium</a:t>
                      </a:r>
                    </a:p>
                  </a:txBody>
                  <a:tcPr anchor="ctr"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538778"/>
                  </a:ext>
                </a:extLst>
              </a:tr>
              <a:tr h="7177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Tier 3 + Low Income groups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Smaller loans + disciplined repayment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Low</a:t>
                      </a:r>
                    </a:p>
                  </a:txBody>
                  <a:tcPr anchor="ctr">
                    <a:solidFill>
                      <a:srgbClr val="00B05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033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5DA3AB-FE8A-ECCA-5A2C-1AEA824ED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610733"/>
              </p:ext>
            </p:extLst>
          </p:nvPr>
        </p:nvGraphicFramePr>
        <p:xfrm>
          <a:off x="2047875" y="4046726"/>
          <a:ext cx="8154675" cy="249533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596622">
                  <a:extLst>
                    <a:ext uri="{9D8B030D-6E8A-4147-A177-3AD203B41FA5}">
                      <a16:colId xmlns:a16="http://schemas.microsoft.com/office/drawing/2014/main" val="2757270087"/>
                    </a:ext>
                  </a:extLst>
                </a:gridCol>
                <a:gridCol w="1518962">
                  <a:extLst>
                    <a:ext uri="{9D8B030D-6E8A-4147-A177-3AD203B41FA5}">
                      <a16:colId xmlns:a16="http://schemas.microsoft.com/office/drawing/2014/main" val="1433646051"/>
                    </a:ext>
                  </a:extLst>
                </a:gridCol>
                <a:gridCol w="1492773">
                  <a:extLst>
                    <a:ext uri="{9D8B030D-6E8A-4147-A177-3AD203B41FA5}">
                      <a16:colId xmlns:a16="http://schemas.microsoft.com/office/drawing/2014/main" val="2123258978"/>
                    </a:ext>
                  </a:extLst>
                </a:gridCol>
                <a:gridCol w="1546318">
                  <a:extLst>
                    <a:ext uri="{9D8B030D-6E8A-4147-A177-3AD203B41FA5}">
                      <a16:colId xmlns:a16="http://schemas.microsoft.com/office/drawing/2014/main" val="1094096724"/>
                    </a:ext>
                  </a:extLst>
                </a:gridCol>
              </a:tblGrid>
              <a:tr h="44167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Tier-1 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Tier-2 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Tier-3 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888870"/>
                  </a:ext>
                </a:extLst>
              </a:tr>
              <a:tr h="5302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Very High Loan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WhatsApp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418712"/>
                  </a:ext>
                </a:extLst>
              </a:tr>
              <a:tr h="4416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High Loan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 &amp; WhatsApp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416409"/>
                  </a:ext>
                </a:extLst>
              </a:tr>
              <a:tr h="4416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Medium Loan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994679"/>
                  </a:ext>
                </a:extLst>
              </a:tr>
              <a:tr h="44167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Low Loan 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AI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25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12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B405-0A46-DCE1-B340-E04A0205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299"/>
          </a:xfrm>
        </p:spPr>
        <p:txBody>
          <a:bodyPr/>
          <a:lstStyle/>
          <a:p>
            <a:pPr algn="ctr"/>
            <a:r>
              <a:rPr lang="en-US" b="1" dirty="0"/>
              <a:t>Investment Strategy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D422A7B-2AA9-E34B-E34C-A42B3D913E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3885254"/>
              </p:ext>
            </p:extLst>
          </p:nvPr>
        </p:nvGraphicFramePr>
        <p:xfrm>
          <a:off x="381635" y="1114425"/>
          <a:ext cx="11182349" cy="50672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19817">
                  <a:extLst>
                    <a:ext uri="{9D8B030D-6E8A-4147-A177-3AD203B41FA5}">
                      <a16:colId xmlns:a16="http://schemas.microsoft.com/office/drawing/2014/main" val="854055820"/>
                    </a:ext>
                  </a:extLst>
                </a:gridCol>
                <a:gridCol w="2165997">
                  <a:extLst>
                    <a:ext uri="{9D8B030D-6E8A-4147-A177-3AD203B41FA5}">
                      <a16:colId xmlns:a16="http://schemas.microsoft.com/office/drawing/2014/main" val="4195699440"/>
                    </a:ext>
                  </a:extLst>
                </a:gridCol>
                <a:gridCol w="1409452">
                  <a:extLst>
                    <a:ext uri="{9D8B030D-6E8A-4147-A177-3AD203B41FA5}">
                      <a16:colId xmlns:a16="http://schemas.microsoft.com/office/drawing/2014/main" val="2856919431"/>
                    </a:ext>
                  </a:extLst>
                </a:gridCol>
                <a:gridCol w="6187083">
                  <a:extLst>
                    <a:ext uri="{9D8B030D-6E8A-4147-A177-3AD203B41FA5}">
                      <a16:colId xmlns:a16="http://schemas.microsoft.com/office/drawing/2014/main" val="2888995452"/>
                    </a:ext>
                  </a:extLst>
                </a:gridCol>
              </a:tblGrid>
              <a:tr h="40736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Investment Area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 &amp; Strategy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Allocation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Rationale &amp; Expected Impact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813512529"/>
                  </a:ext>
                </a:extLst>
              </a:tr>
              <a:tr h="167874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Channel Optimization &amp; Personalization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Enhance IVR, WhatsApp, and SMS Nudges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3.5 Lakh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Primarily focuses on the Medium Income group’s have 50% delay rate.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The money will be utilized for: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1. A/B testing of messaging tone, timing.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2. Putting further personalization elements into practice (e.g., noting past on-time record, specific loan bucket).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3. Enhancing the least effective channels (WhatsApp and IVR) to match AI Call's performance.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904157099"/>
                  </a:ext>
                </a:extLst>
              </a:tr>
              <a:tr h="1573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Agent Training &amp; Targeted Incentives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High-Risk &amp; Escalation Desk Specialization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4.0 Lakh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/>
                        <a:t>Primarily focuses on clients who “Need Settlement offer" or have a “Dispute on EMI amount," as well as the High-Risk sector (Avg Delay: 30 days).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The money will be utilized for: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1. A small, committed team received specialized training on managing escalations and debt restructuring discussions.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2. Performance based incentives for successfully recover from users who have more than 14 Days past due.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96991522"/>
                  </a:ext>
                </a:extLst>
              </a:tr>
              <a:tr h="140727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Behavioral Nudge: Early Bird Reward Feature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Develop and Test a Small Gamification Feature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2.5 Lakh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/>
                        <a:t>Primarily focuses on the Low Loan Amount segment. The money will be used to, create a basic gamification/reward function for the app. For instance, a digital "On-Time Badge" or a 1% cashback (up to Rs. 50) for making EMI payments ahead of schedule.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00460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61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789</Words>
  <Application>Microsoft Office PowerPoint</Application>
  <PresentationFormat>Widescreen</PresentationFormat>
  <Paragraphs>127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 Text</vt:lpstr>
      <vt:lpstr>Office Theme</vt:lpstr>
      <vt:lpstr>WeRize Product Analyst Assignment  Analyzing repayment and collection data, identifying key drivers of delay or default, and recommending actions to improve repayment efficiency.</vt:lpstr>
      <vt:lpstr>Objective &amp; Dataset Summary</vt:lpstr>
      <vt:lpstr>Customer Insights</vt:lpstr>
      <vt:lpstr>Channel Performance</vt:lpstr>
      <vt:lpstr>Delay Drivers</vt:lpstr>
      <vt:lpstr>Recommendations</vt:lpstr>
      <vt:lpstr>Investment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LAKSHYA RAJ SINGH</dc:creator>
  <cp:lastModifiedBy>LAKSHYA RAJ SINGH</cp:lastModifiedBy>
  <cp:revision>5</cp:revision>
  <dcterms:created xsi:type="dcterms:W3CDTF">2025-11-07T08:50:43Z</dcterms:created>
  <dcterms:modified xsi:type="dcterms:W3CDTF">2025-11-08T16:06:02Z</dcterms:modified>
</cp:coreProperties>
</file>